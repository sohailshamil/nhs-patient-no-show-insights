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bold r:id="rId21"/>
      <p:boldItalic r:id="rId22"/>
    </p:embeddedFont>
    <p:embeddedFont>
      <p:font typeface="Inter ExtraBold"/>
      <p:bold r:id="rId23"/>
      <p:boldItalic r:id="rId24"/>
    </p:embeddedFont>
    <p:embeddedFont>
      <p:font typeface="Montserrat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bold.fntdata"/><Relationship Id="rId24" Type="http://schemas.openxmlformats.org/officeDocument/2006/relationships/font" Target="fonts/InterExtraBold-boldItalic.fntdata"/><Relationship Id="rId23" Type="http://schemas.openxmlformats.org/officeDocument/2006/relationships/font" Target="fonts/Inter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ExtraBold-boldItalic.fntdata"/><Relationship Id="rId25" Type="http://schemas.openxmlformats.org/officeDocument/2006/relationships/font" Target="fonts/Montserrat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69e338b1_0_1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f569e338b1_0_1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569e338b1_0_1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569e338b1_0_1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f8081bd8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f8081bd8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569e338b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569e338b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569e338b1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569e338b1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569e338b1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569e338b1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69e338b1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569e338b1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69e338b1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569e338b1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69e338b1_0_1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569e338b1_0_1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69e338b1_0_1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569e338b1_0_1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569e338b1_0_1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569e338b1_0_1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f8081bd82_6_0)">
  <p:cSld name="Generated (g3ef8081bd82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56bdc7a0c_6_0)">
  <p:cSld name="Generated (g3f56bdc7a0c_6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7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hyperlink" Target="https://drive.google.com/uc?export=download&amp;id=1bNEZ_oEXIGPr1LpY7GlbzijTLjl2AKfO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37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5"/>
          <p:cNvPicPr preferRelativeResize="0"/>
          <p:nvPr/>
        </p:nvPicPr>
        <p:blipFill rotWithShape="1">
          <a:blip r:embed="rId3">
            <a:alphaModFix/>
          </a:blip>
          <a:srcRect b="0" l="3288" r="3288" t="0"/>
          <a:stretch/>
        </p:blipFill>
        <p:spPr>
          <a:xfrm>
            <a:off x="571500" y="428625"/>
            <a:ext cx="20478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 txBox="1"/>
          <p:nvPr/>
        </p:nvSpPr>
        <p:spPr>
          <a:xfrm>
            <a:off x="571500" y="1428750"/>
            <a:ext cx="40959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500">
                <a:solidFill>
                  <a:srgbClr val="A5F3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WELCOME TO THE EXPERIENCE</a:t>
            </a:r>
            <a:endParaRPr b="0" sz="1500">
              <a:solidFill>
                <a:srgbClr val="A5F3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GB" sz="3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This week isn't about watching tutorials.</a:t>
            </a:r>
            <a:endParaRPr b="0" sz="36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59" name="Google Shape;59;p15"/>
          <p:cNvGrpSpPr/>
          <p:nvPr/>
        </p:nvGrpSpPr>
        <p:grpSpPr>
          <a:xfrm>
            <a:off x="4943475" y="1228725"/>
            <a:ext cx="3638700" cy="3067200"/>
            <a:chOff x="4943475" y="1228725"/>
            <a:chExt cx="3638700" cy="3067200"/>
          </a:xfrm>
        </p:grpSpPr>
        <p:pic>
          <p:nvPicPr>
            <p:cNvPr id="60" name="Google Shape;6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43475" y="1228725"/>
              <a:ext cx="3638700" cy="306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15"/>
            <p:cNvSpPr txBox="1"/>
            <p:nvPr/>
          </p:nvSpPr>
          <p:spPr>
            <a:xfrm>
              <a:off x="5286375" y="1476375"/>
              <a:ext cx="2952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9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It's about </a:t>
              </a:r>
              <a:r>
                <a:rPr b="1" i="0" lang="en-GB" sz="1900">
                  <a:solidFill>
                    <a:srgbClr val="FFD700"/>
                  </a:solidFill>
                  <a:latin typeface="Georgia"/>
                  <a:ea typeface="Georgia"/>
                  <a:cs typeface="Georgia"/>
                  <a:sym typeface="Georgia"/>
                </a:rPr>
                <a:t>solving a real business problem</a:t>
              </a:r>
              <a:r>
                <a:rPr i="1" lang="en-GB" sz="19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 like a </a:t>
              </a:r>
              <a:r>
                <a:rPr b="1" i="0" lang="en-GB" sz="1900">
                  <a:solidFill>
                    <a:srgbClr val="FFD700"/>
                  </a:solidFill>
                  <a:latin typeface="Georgia"/>
                  <a:ea typeface="Georgia"/>
                  <a:cs typeface="Georgia"/>
                  <a:sym typeface="Georgia"/>
                </a:rPr>
                <a:t>data </a:t>
              </a:r>
              <a:r>
                <a:rPr b="1" lang="en-GB" sz="1900">
                  <a:solidFill>
                    <a:srgbClr val="FFD700"/>
                  </a:solidFill>
                  <a:latin typeface="Georgia"/>
                  <a:ea typeface="Georgia"/>
                  <a:cs typeface="Georgia"/>
                  <a:sym typeface="Georgia"/>
                </a:rPr>
                <a:t>analyst</a:t>
              </a:r>
              <a:r>
                <a:rPr i="1" lang="en-GB" sz="19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  <a:endParaRPr i="1" sz="1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 rotWithShape="1">
          <a:blip r:embed="rId4">
            <a:alphaModFix/>
          </a:blip>
          <a:srcRect b="0" l="3262" r="3262" t="0"/>
          <a:stretch/>
        </p:blipFill>
        <p:spPr>
          <a:xfrm>
            <a:off x="571500" y="428625"/>
            <a:ext cx="20478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/>
          <p:nvPr/>
        </p:nvSpPr>
        <p:spPr>
          <a:xfrm>
            <a:off x="571500" y="857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25">
                <a:solidFill>
                  <a:srgbClr val="A5F3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Hiring Gap</a:t>
            </a:r>
            <a:endParaRPr b="0" sz="925">
              <a:solidFill>
                <a:srgbClr val="A5F3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GB" sz="222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Why Many Aspiring Data Analysts Struggle to Get Hired</a:t>
            </a:r>
            <a:endParaRPr b="0" sz="222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68" name="Google Shape;68;p16"/>
          <p:cNvGrpSpPr/>
          <p:nvPr/>
        </p:nvGrpSpPr>
        <p:grpSpPr>
          <a:xfrm>
            <a:off x="566738" y="1709738"/>
            <a:ext cx="3914700" cy="2295600"/>
            <a:chOff x="566738" y="1709738"/>
            <a:chExt cx="3914700" cy="2295600"/>
          </a:xfrm>
        </p:grpSpPr>
        <p:pic>
          <p:nvPicPr>
            <p:cNvPr id="69" name="Google Shape;69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738" y="1709738"/>
              <a:ext cx="3914700" cy="229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6"/>
            <p:cNvSpPr txBox="1"/>
            <p:nvPr/>
          </p:nvSpPr>
          <p:spPr>
            <a:xfrm>
              <a:off x="809625" y="1905000"/>
              <a:ext cx="34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What Candidates Typically Have</a:t>
              </a:r>
              <a:endParaRPr b="1" sz="14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Inter"/>
                <a:buChar char="●"/>
              </a:pPr>
              <a:r>
                <a:rPr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Online courses and standard certifications</a:t>
              </a:r>
              <a:endParaRPr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Inter"/>
                <a:buChar char="●"/>
              </a:pPr>
              <a:r>
                <a:rPr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Basic technical knowledge of Excel, SQL, and Python</a:t>
              </a:r>
              <a:endParaRPr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Inter"/>
                <a:buChar char="●"/>
              </a:pPr>
              <a:r>
                <a:rPr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Portfolio projects built from clean, guided tutorials</a:t>
              </a:r>
              <a:endParaRPr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ts val="1050"/>
                <a:buFont typeface="Inter"/>
                <a:buChar char="●"/>
              </a:pPr>
              <a:r>
                <a:rPr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Theoretical understanding of analytics and KPIs</a:t>
              </a:r>
              <a:endParaRPr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1" name="Google Shape;71;p16"/>
          <p:cNvGrpSpPr/>
          <p:nvPr/>
        </p:nvGrpSpPr>
        <p:grpSpPr>
          <a:xfrm>
            <a:off x="4662488" y="1709738"/>
            <a:ext cx="3914700" cy="2295600"/>
            <a:chOff x="4662488" y="1709738"/>
            <a:chExt cx="3914700" cy="2295600"/>
          </a:xfrm>
        </p:grpSpPr>
        <p:pic>
          <p:nvPicPr>
            <p:cNvPr id="72" name="Google Shape;72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62488" y="1709738"/>
              <a:ext cx="3914700" cy="229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16"/>
            <p:cNvSpPr txBox="1"/>
            <p:nvPr/>
          </p:nvSpPr>
          <p:spPr>
            <a:xfrm>
              <a:off x="4905375" y="1905000"/>
              <a:ext cx="34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FD700"/>
                  </a:solidFill>
                  <a:latin typeface="Inter"/>
                  <a:ea typeface="Inter"/>
                  <a:cs typeface="Inter"/>
                  <a:sym typeface="Inter"/>
                </a:rPr>
                <a:t>What Employers Are Looking For</a:t>
              </a:r>
              <a:endParaRPr b="1" sz="1400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Inter"/>
                <a:buChar char="●"/>
              </a:pPr>
              <a:r>
                <a:rPr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Ability to solve real, ambiguous business problems</a:t>
              </a:r>
              <a:endParaRPr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Inter"/>
                <a:buChar char="●"/>
              </a:pPr>
              <a:r>
                <a:rPr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Experience cleaning and analyzing highly messy datasets</a:t>
              </a:r>
              <a:endParaRPr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Inter"/>
                <a:buChar char="●"/>
              </a:pPr>
              <a:r>
                <a:rPr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Strong dashboard design and data storytelling skills</a:t>
              </a:r>
              <a:endParaRPr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FFFFFF"/>
                </a:buClr>
                <a:buSzPts val="1050"/>
                <a:buFont typeface="Inter"/>
                <a:buChar char="●"/>
              </a:pPr>
              <a:r>
                <a:rPr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Clear communication of insights &amp; recommendations</a:t>
              </a:r>
              <a:endParaRPr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" name="Google Shape;74;p16"/>
          <p:cNvGrpSpPr/>
          <p:nvPr/>
        </p:nvGrpSpPr>
        <p:grpSpPr>
          <a:xfrm>
            <a:off x="566738" y="4186238"/>
            <a:ext cx="8010600" cy="581100"/>
            <a:chOff x="566738" y="4186238"/>
            <a:chExt cx="8010600" cy="581100"/>
          </a:xfrm>
        </p:grpSpPr>
        <p:pic>
          <p:nvPicPr>
            <p:cNvPr id="75" name="Google Shape;75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6738" y="4186238"/>
              <a:ext cx="8010600" cy="58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6"/>
            <p:cNvSpPr txBox="1"/>
            <p:nvPr/>
          </p:nvSpPr>
          <p:spPr>
            <a:xfrm>
              <a:off x="762000" y="419100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D700"/>
                  </a:solidFill>
                  <a:latin typeface="Inter"/>
                  <a:ea typeface="Inter"/>
                  <a:cs typeface="Inter"/>
                  <a:sym typeface="Inter"/>
                </a:rPr>
                <a:t>The Core Gap:</a:t>
              </a:r>
              <a:r>
                <a:rPr lang="en-GB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Knowing tools is entirely different from solving actual business problems. Employers hire analysts who translate raw data into business value.</a:t>
              </a:r>
              <a:endParaRPr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37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56374"/>
              </a:highlight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4">
            <a:alphaModFix/>
          </a:blip>
          <a:srcRect b="0" l="3262" r="3262" t="0"/>
          <a:stretch/>
        </p:blipFill>
        <p:spPr>
          <a:xfrm>
            <a:off x="571500" y="428625"/>
            <a:ext cx="2047800" cy="28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17"/>
          <p:cNvGrpSpPr/>
          <p:nvPr/>
        </p:nvGrpSpPr>
        <p:grpSpPr>
          <a:xfrm>
            <a:off x="571500" y="1190625"/>
            <a:ext cx="1143000" cy="285900"/>
            <a:chOff x="571500" y="1190625"/>
            <a:chExt cx="1143000" cy="285900"/>
          </a:xfrm>
        </p:grpSpPr>
        <p:sp>
          <p:nvSpPr>
            <p:cNvPr id="84" name="Google Shape;84;p17"/>
            <p:cNvSpPr/>
            <p:nvPr/>
          </p:nvSpPr>
          <p:spPr>
            <a:xfrm>
              <a:off x="571500" y="1190625"/>
              <a:ext cx="1143000" cy="2859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7"/>
            <p:cNvSpPr txBox="1"/>
            <p:nvPr/>
          </p:nvSpPr>
          <p:spPr>
            <a:xfrm>
              <a:off x="571500" y="119062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56374"/>
                  </a:solidFill>
                  <a:latin typeface="Inter"/>
                  <a:ea typeface="Inter"/>
                  <a:cs typeface="Inter"/>
                  <a:sym typeface="Inter"/>
                </a:rPr>
                <a:t>CASE STUDY</a:t>
              </a:r>
              <a:endParaRPr b="1" sz="900">
                <a:solidFill>
                  <a:srgbClr val="15637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" name="Google Shape;86;p17"/>
          <p:cNvGrpSpPr/>
          <p:nvPr/>
        </p:nvGrpSpPr>
        <p:grpSpPr>
          <a:xfrm>
            <a:off x="1809750" y="1190625"/>
            <a:ext cx="1143000" cy="285900"/>
            <a:chOff x="1809750" y="1190625"/>
            <a:chExt cx="1143000" cy="285900"/>
          </a:xfrm>
        </p:grpSpPr>
        <p:sp>
          <p:nvSpPr>
            <p:cNvPr id="87" name="Google Shape;87;p17"/>
            <p:cNvSpPr/>
            <p:nvPr/>
          </p:nvSpPr>
          <p:spPr>
            <a:xfrm>
              <a:off x="1809750" y="1190625"/>
              <a:ext cx="1143000" cy="2859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7"/>
            <p:cNvSpPr txBox="1"/>
            <p:nvPr/>
          </p:nvSpPr>
          <p:spPr>
            <a:xfrm>
              <a:off x="1809750" y="119062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SECTOR: NHS</a:t>
              </a:r>
              <a:endPara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9" name="Google Shape;89;p17"/>
          <p:cNvSpPr txBox="1"/>
          <p:nvPr/>
        </p:nvSpPr>
        <p:spPr>
          <a:xfrm>
            <a:off x="571500" y="1762125"/>
            <a:ext cx="8001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Reducing Missed Outpatient Appointments (DNAs)</a:t>
            </a:r>
            <a:endParaRPr b="0" sz="3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1" lang="en-GB" sz="18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at </a:t>
            </a:r>
            <a:r>
              <a:rPr i="1" lang="en-GB" sz="18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Fenwick Grove NHS</a:t>
            </a:r>
            <a:r>
              <a:rPr b="0" i="1" lang="en-GB" sz="18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 Foundation Trust</a:t>
            </a:r>
            <a:endParaRPr b="0" i="1" sz="1800">
              <a:solidFill>
                <a:srgbClr val="A5F3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/>
          <p:cNvPicPr preferRelativeResize="0"/>
          <p:nvPr/>
        </p:nvPicPr>
        <p:blipFill rotWithShape="1">
          <a:blip r:embed="rId4">
            <a:alphaModFix/>
          </a:blip>
          <a:srcRect b="0" l="3262" r="3262" t="0"/>
          <a:stretch/>
        </p:blipFill>
        <p:spPr>
          <a:xfrm>
            <a:off x="571500" y="428625"/>
            <a:ext cx="20478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571500" y="9525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5F3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Project Overview</a:t>
            </a:r>
            <a:endParaRPr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Understanding Patient 'DNAs'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738" y="1900238"/>
            <a:ext cx="3914700" cy="25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2488" y="1900238"/>
            <a:ext cx="3914700" cy="25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09625" y="2143125"/>
            <a:ext cx="34290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 b="1" sz="1500">
              <a:solidFill>
                <a:srgbClr val="A5F3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Fenwick Grove NHS Foundation Trust wants to understand why so many patients fail to attend their booked outpatient appointments known in the NHS as </a:t>
            </a:r>
            <a:r>
              <a:rPr b="1" lang="en-GB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“Did Not Attends” or DNAs</a:t>
            </a:r>
            <a:r>
              <a:rPr b="0" lang="en-GB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Understanding these patterns is critical to designing targeted efforts that reduce skipped appointments and improve service efficiency.</a:t>
            </a:r>
            <a:endParaRPr b="0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4905375" y="2143125"/>
            <a:ext cx="34290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Your Role as Data Analyst</a:t>
            </a:r>
            <a:endParaRPr b="1" sz="1500">
              <a:solidFill>
                <a:srgbClr val="A5F3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 a newly hired Data Analyst, you will tackle missed appointments by turning raw data into strategy:</a:t>
            </a:r>
            <a:endParaRPr b="0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75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●"/>
            </a:pPr>
            <a:r>
              <a:rPr lang="en-GB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Explore and clean complex outpatient appointment data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●"/>
            </a:pPr>
            <a:r>
              <a:rPr lang="en-GB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Identify core demographic and clinical patterns behind DNAs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●"/>
            </a:pPr>
            <a:r>
              <a:rPr lang="en-GB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Recommend practical, evidence-based actions for the Trust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 rotWithShape="1">
          <a:blip r:embed="rId4">
            <a:alphaModFix/>
          </a:blip>
          <a:srcRect b="0" l="3288" r="3288" t="0"/>
          <a:stretch/>
        </p:blipFill>
        <p:spPr>
          <a:xfrm>
            <a:off x="571500" y="428625"/>
            <a:ext cx="20478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571500" y="9525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5F3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ABOUT THE BUSINESS</a:t>
            </a:r>
            <a:endParaRPr b="0" sz="1000">
              <a:solidFill>
                <a:srgbClr val="A5F3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Fenwick Grove NHS Foundation Trust</a:t>
            </a:r>
            <a:endParaRPr b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738" y="1852613"/>
            <a:ext cx="3914700" cy="27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2488" y="1852613"/>
            <a:ext cx="3914700" cy="27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809625" y="2095500"/>
            <a:ext cx="3429000" cy="22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Scale &amp; Services</a:t>
            </a:r>
            <a:endParaRPr b="1" sz="1500">
              <a:solidFill>
                <a:srgbClr val="A5F3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Fenwick Grove NHS Foundation Trust runs one main hospital site and two community clinics in the English Midlands.</a:t>
            </a:r>
            <a:endParaRPr b="0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●"/>
            </a:pPr>
            <a:r>
              <a:rPr b="0" lang="en-GB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Serves a population of roughly </a:t>
            </a:r>
            <a:r>
              <a:rPr b="1" lang="en-GB" sz="10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380,000 people</a:t>
            </a:r>
            <a:r>
              <a:rPr b="0" lang="en-GB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●"/>
            </a:pPr>
            <a:r>
              <a:rPr b="0" lang="en-GB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Provides outpatient services across </a:t>
            </a:r>
            <a:r>
              <a:rPr b="1" lang="en-GB" sz="10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10 specialties</a:t>
            </a:r>
            <a:r>
              <a:rPr b="0" lang="en-GB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(including Cardiology, Orthopaedics, Dermatology, and General Surgery).</a:t>
            </a:r>
            <a:endParaRPr b="0"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4905375" y="2095500"/>
            <a:ext cx="3429000" cy="22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Funding &amp; Pressures</a:t>
            </a:r>
            <a:endParaRPr b="1" sz="1500">
              <a:solidFill>
                <a:srgbClr val="A5F3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Trust operates under significant financial and operational pressure. It is funded largely through NHS England commissioning.</a:t>
            </a:r>
            <a:endParaRPr b="0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●"/>
            </a:pPr>
            <a:r>
              <a:rPr b="0" lang="en-GB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Measured against national targets, including the </a:t>
            </a:r>
            <a:r>
              <a:rPr b="1" lang="en-GB" sz="10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18-week Referral to Treatment (RTT)</a:t>
            </a:r>
            <a:r>
              <a:rPr b="0" lang="en-GB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standard.</a:t>
            </a:r>
            <a:endParaRPr b="0"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●"/>
            </a:pPr>
            <a:r>
              <a:rPr b="0" lang="en-GB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Outpatient clinics are booked to near-full capacity due to </a:t>
            </a:r>
            <a:r>
              <a:rPr b="1" lang="en-GB" sz="10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excess demand</a:t>
            </a:r>
            <a:r>
              <a:rPr b="0" lang="en-GB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0"/>
          <p:cNvPicPr preferRelativeResize="0"/>
          <p:nvPr/>
        </p:nvPicPr>
        <p:blipFill rotWithShape="1">
          <a:blip r:embed="rId4">
            <a:alphaModFix/>
          </a:blip>
          <a:srcRect b="0" l="3288" r="3288" t="0"/>
          <a:stretch/>
        </p:blipFill>
        <p:spPr>
          <a:xfrm>
            <a:off x="571500" y="428625"/>
            <a:ext cx="20478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571500" y="952500"/>
            <a:ext cx="8001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5F3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Challenge</a:t>
            </a:r>
            <a:endParaRPr b="0" sz="1000">
              <a:solidFill>
                <a:srgbClr val="A5F3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Business Problem</a:t>
            </a:r>
            <a:endParaRPr b="0" sz="1000">
              <a:solidFill>
                <a:srgbClr val="A5F3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" y="1800225"/>
            <a:ext cx="24957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24225" y="1800225"/>
            <a:ext cx="24957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6475" y="1800225"/>
            <a:ext cx="24957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/>
        </p:nvSpPr>
        <p:spPr>
          <a:xfrm>
            <a:off x="714375" y="1952625"/>
            <a:ext cx="21909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01. DNA RATE SPIKE</a:t>
            </a:r>
            <a:endParaRPr b="1" sz="1300">
              <a:solidFill>
                <a:srgbClr val="A5F3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4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12.5%</a:t>
            </a:r>
            <a:endParaRPr b="0" sz="44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vs 7–8% NHS National Average</a:t>
            </a:r>
            <a:endParaRPr b="0" sz="1100">
              <a:solidFill>
                <a:srgbClr val="A5F3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Fenwick Grove's outpatient DNA rate has climbed significantly. Every missed appointment represents a wasted slot that could have gone to another patient on the waiting list.</a:t>
            </a:r>
            <a:endParaRPr b="0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3476625" y="1952625"/>
            <a:ext cx="21909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3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02. FINANCIAL IMPACT</a:t>
            </a:r>
            <a:endParaRPr b="1" sz="1203">
              <a:solidFill>
                <a:srgbClr val="A5F3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407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£400k+</a:t>
            </a:r>
            <a:endParaRPr b="0" sz="407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GB" sz="1018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Costing over £400,000 per year</a:t>
            </a:r>
            <a:endParaRPr b="0" sz="1018">
              <a:solidFill>
                <a:srgbClr val="A5F3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GB" sz="10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 an average cost of £120 per missed appointment, this drains clinician time and clinic resources while pushing patients further down the queue.</a:t>
            </a:r>
            <a:endParaRPr b="0" sz="1018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6238875" y="1952625"/>
            <a:ext cx="21909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3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rPr>
              <a:t>03. THE KNOWLEDGE GAP</a:t>
            </a:r>
            <a:endParaRPr b="1" sz="1203">
              <a:solidFill>
                <a:srgbClr val="A5F3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296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No-Shows?</a:t>
            </a:r>
            <a:endParaRPr b="0" sz="296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018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Lacking deep patient insights</a:t>
            </a:r>
            <a:endParaRPr b="0" sz="1018">
              <a:solidFill>
                <a:srgbClr val="A5F3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GB" sz="10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Leadership does not yet know who misses appointments or why. Without this, interventions risk being expensive guesses rather than targeted fixes.</a:t>
            </a:r>
            <a:endParaRPr b="0" sz="1018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 rotWithShape="1">
          <a:blip r:embed="rId4">
            <a:alphaModFix/>
          </a:blip>
          <a:srcRect b="0" l="3288" r="3288" t="0"/>
          <a:stretch/>
        </p:blipFill>
        <p:spPr>
          <a:xfrm>
            <a:off x="571500" y="428625"/>
            <a:ext cx="20478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571500" y="952500"/>
            <a:ext cx="8001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>
                <a:solidFill>
                  <a:srgbClr val="A5F3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Project Context</a:t>
            </a:r>
            <a:endParaRPr b="0" i="0" sz="1000">
              <a:solidFill>
                <a:srgbClr val="A5F3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Rationale for the Project</a:t>
            </a:r>
            <a:endParaRPr b="0" i="0" sz="28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28" name="Google Shape;128;p21"/>
          <p:cNvGrpSpPr/>
          <p:nvPr/>
        </p:nvGrpSpPr>
        <p:grpSpPr>
          <a:xfrm>
            <a:off x="561975" y="1800225"/>
            <a:ext cx="2533800" cy="2781300"/>
            <a:chOff x="561975" y="1800225"/>
            <a:chExt cx="2533800" cy="2781300"/>
          </a:xfrm>
        </p:grpSpPr>
        <p:pic>
          <p:nvPicPr>
            <p:cNvPr id="129" name="Google Shape;129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1975" y="1800225"/>
              <a:ext cx="2533800" cy="2781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21"/>
            <p:cNvSpPr txBox="1"/>
            <p:nvPr/>
          </p:nvSpPr>
          <p:spPr>
            <a:xfrm>
              <a:off x="723900" y="1962150"/>
              <a:ext cx="2209800" cy="24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01. The Approach</a:t>
              </a:r>
              <a:endParaRPr b="1" sz="10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2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Not Random</a:t>
              </a:r>
              <a:endParaRPr b="0" sz="2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E2F8FA"/>
                  </a:solidFill>
                  <a:latin typeface="Inter"/>
                  <a:ea typeface="Inter"/>
                  <a:cs typeface="Inter"/>
                  <a:sym typeface="Inter"/>
                </a:rPr>
                <a:t>DNA rates follow distinct, non-random patterns tied to how, when, and for whom appointments are booked. Analyzing this data reveals actionable insights cheaply using existing NHS records.</a:t>
              </a:r>
              <a:endParaRPr b="0" sz="1050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1" name="Google Shape;131;p21"/>
          <p:cNvGrpSpPr/>
          <p:nvPr/>
        </p:nvGrpSpPr>
        <p:grpSpPr>
          <a:xfrm>
            <a:off x="3305175" y="1800225"/>
            <a:ext cx="2533800" cy="2781300"/>
            <a:chOff x="3305175" y="1800225"/>
            <a:chExt cx="2533800" cy="2781300"/>
          </a:xfrm>
        </p:grpSpPr>
        <p:pic>
          <p:nvPicPr>
            <p:cNvPr id="132" name="Google Shape;132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05175" y="1800225"/>
              <a:ext cx="2533800" cy="2781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21"/>
            <p:cNvSpPr txBox="1"/>
            <p:nvPr/>
          </p:nvSpPr>
          <p:spPr>
            <a:xfrm>
              <a:off x="3467100" y="1962150"/>
              <a:ext cx="2209800" cy="24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02. The Benefits</a:t>
              </a:r>
              <a:endParaRPr b="1" sz="10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2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Patient Impact</a:t>
              </a:r>
              <a:endParaRPr b="0" sz="2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E2F8FA"/>
                  </a:solidFill>
                  <a:latin typeface="Inter"/>
                  <a:ea typeface="Inter"/>
                  <a:cs typeface="Inter"/>
                  <a:sym typeface="Inter"/>
                </a:rPr>
                <a:t>Reducing missed appointments supports NHS goals of cutting wait times, getting patients seen sooner, and maximizing the efficiency of clinical staff—one of healthcare's scarcest resources.</a:t>
              </a:r>
              <a:endParaRPr b="0" sz="1050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4" name="Google Shape;134;p21"/>
          <p:cNvGrpSpPr/>
          <p:nvPr/>
        </p:nvGrpSpPr>
        <p:grpSpPr>
          <a:xfrm>
            <a:off x="6048375" y="1800225"/>
            <a:ext cx="2533800" cy="2781300"/>
            <a:chOff x="6048375" y="1800225"/>
            <a:chExt cx="2533800" cy="2781300"/>
          </a:xfrm>
        </p:grpSpPr>
        <p:pic>
          <p:nvPicPr>
            <p:cNvPr id="135" name="Google Shape;135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48375" y="1800225"/>
              <a:ext cx="2533800" cy="2781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21"/>
            <p:cNvSpPr txBox="1"/>
            <p:nvPr/>
          </p:nvSpPr>
          <p:spPr>
            <a:xfrm>
              <a:off x="6210300" y="1962150"/>
              <a:ext cx="2209800" cy="24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03. The Experience</a:t>
              </a:r>
              <a:endParaRPr b="1" sz="10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2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Analyst Role</a:t>
              </a:r>
              <a:endParaRPr b="0" sz="2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E2F8FA"/>
                  </a:solidFill>
                  <a:latin typeface="Inter"/>
                  <a:ea typeface="Inter"/>
                  <a:cs typeface="Inter"/>
                  <a:sym typeface="Inter"/>
                </a:rPr>
                <a:t>This project </a:t>
              </a:r>
              <a:r>
                <a:rPr lang="en-GB" sz="1050">
                  <a:solidFill>
                    <a:srgbClr val="E2F8FA"/>
                  </a:solidFill>
                  <a:latin typeface="Inter"/>
                  <a:ea typeface="Inter"/>
                  <a:cs typeface="Inter"/>
                  <a:sym typeface="Inter"/>
                </a:rPr>
                <a:t>is a</a:t>
              </a:r>
              <a:r>
                <a:rPr b="0" lang="en-GB" sz="1050">
                  <a:solidFill>
                    <a:srgbClr val="E2F8FA"/>
                  </a:solidFill>
                  <a:latin typeface="Inter"/>
                  <a:ea typeface="Inter"/>
                  <a:cs typeface="Inter"/>
                  <a:sym typeface="Inter"/>
                </a:rPr>
                <a:t> standard healthcare analytics: utilizing operational data to diagnose performance gaps and inform critical policy decisions, building essential real-world analyst skills.</a:t>
              </a:r>
              <a:endParaRPr b="0" sz="1050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2"/>
          <p:cNvPicPr preferRelativeResize="0"/>
          <p:nvPr/>
        </p:nvPicPr>
        <p:blipFill rotWithShape="1">
          <a:blip r:embed="rId4">
            <a:alphaModFix/>
          </a:blip>
          <a:srcRect b="0" l="3288" r="3288" t="0"/>
          <a:stretch/>
        </p:blipFill>
        <p:spPr>
          <a:xfrm>
            <a:off x="571500" y="381000"/>
            <a:ext cx="2047800" cy="28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22"/>
          <p:cNvGrpSpPr/>
          <p:nvPr/>
        </p:nvGrpSpPr>
        <p:grpSpPr>
          <a:xfrm>
            <a:off x="571500" y="809625"/>
            <a:ext cx="8001000" cy="809700"/>
            <a:chOff x="571500" y="809625"/>
            <a:chExt cx="8001000" cy="809700"/>
          </a:xfrm>
        </p:grpSpPr>
        <p:sp>
          <p:nvSpPr>
            <p:cNvPr id="143" name="Google Shape;143;p22"/>
            <p:cNvSpPr/>
            <p:nvPr/>
          </p:nvSpPr>
          <p:spPr>
            <a:xfrm>
              <a:off x="571500" y="809625"/>
              <a:ext cx="8001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2"/>
            <p:cNvSpPr txBox="1"/>
            <p:nvPr/>
          </p:nvSpPr>
          <p:spPr>
            <a:xfrm>
              <a:off x="571500" y="809625"/>
              <a:ext cx="8001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A5F3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Project Objectives</a:t>
              </a:r>
              <a:endParaRPr b="0" sz="1000">
                <a:solidFill>
                  <a:srgbClr val="A5F3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Key Analysis Objectives</a:t>
              </a:r>
              <a:endParaRPr b="0" sz="1000">
                <a:solidFill>
                  <a:srgbClr val="A5F3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E2F8FA"/>
                  </a:solidFill>
                  <a:latin typeface="Inter"/>
                  <a:ea typeface="Inter"/>
                  <a:cs typeface="Inter"/>
                  <a:sym typeface="Inter"/>
                </a:rPr>
                <a:t>Your analysis should aim to answer key questions and produce recommendations grounded in the data:</a:t>
              </a:r>
              <a:endParaRPr b="0" sz="1100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" name="Google Shape;145;p22"/>
          <p:cNvGrpSpPr/>
          <p:nvPr/>
        </p:nvGrpSpPr>
        <p:grpSpPr>
          <a:xfrm>
            <a:off x="566738" y="1757363"/>
            <a:ext cx="2562300" cy="1438200"/>
            <a:chOff x="566738" y="1757363"/>
            <a:chExt cx="2562300" cy="1438200"/>
          </a:xfrm>
        </p:grpSpPr>
        <p:pic>
          <p:nvPicPr>
            <p:cNvPr id="146" name="Google Shape;146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738" y="1757363"/>
              <a:ext cx="2562300" cy="14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22"/>
            <p:cNvSpPr txBox="1"/>
            <p:nvPr/>
          </p:nvSpPr>
          <p:spPr>
            <a:xfrm>
              <a:off x="714375" y="1857375"/>
              <a:ext cx="2267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01. QUANTIFY THE PROBLEM</a:t>
              </a:r>
              <a:endParaRPr b="1" sz="10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Calculate the overall DNA rate and break it down by department, appointment type, and time period.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8" name="Google Shape;148;p22"/>
          <p:cNvGrpSpPr/>
          <p:nvPr/>
        </p:nvGrpSpPr>
        <p:grpSpPr>
          <a:xfrm>
            <a:off x="3290888" y="1757363"/>
            <a:ext cx="2562300" cy="1438200"/>
            <a:chOff x="3290888" y="1757363"/>
            <a:chExt cx="2562300" cy="1438200"/>
          </a:xfrm>
        </p:grpSpPr>
        <p:pic>
          <p:nvPicPr>
            <p:cNvPr id="149" name="Google Shape;149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290888" y="1757363"/>
              <a:ext cx="2562300" cy="14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22"/>
            <p:cNvSpPr txBox="1"/>
            <p:nvPr/>
          </p:nvSpPr>
          <p:spPr>
            <a:xfrm>
              <a:off x="3438525" y="1857375"/>
              <a:ext cx="2267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02. PROFILE PATIENTS</a:t>
              </a:r>
              <a:endParaRPr b="1" sz="10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Identify patients most likely to miss appointments by age group, deprivation decile, distance, and history.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1" name="Google Shape;151;p22"/>
          <p:cNvGrpSpPr/>
          <p:nvPr/>
        </p:nvGrpSpPr>
        <p:grpSpPr>
          <a:xfrm>
            <a:off x="6015038" y="1757363"/>
            <a:ext cx="2562300" cy="1438200"/>
            <a:chOff x="6015038" y="1757363"/>
            <a:chExt cx="2562300" cy="1438200"/>
          </a:xfrm>
        </p:grpSpPr>
        <p:pic>
          <p:nvPicPr>
            <p:cNvPr id="152" name="Google Shape;152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15038" y="1757363"/>
              <a:ext cx="2562300" cy="14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22"/>
            <p:cNvSpPr txBox="1"/>
            <p:nvPr/>
          </p:nvSpPr>
          <p:spPr>
            <a:xfrm>
              <a:off x="6162675" y="1857375"/>
              <a:ext cx="2267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03. IDENTIFY DRIVERS</a:t>
              </a:r>
              <a:endParaRPr b="1" sz="10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Determine strongest drivers of DNAs, analyzing lead times and the impact of appointment reminder systems.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4" name="Google Shape;154;p22"/>
          <p:cNvGrpSpPr/>
          <p:nvPr/>
        </p:nvGrpSpPr>
        <p:grpSpPr>
          <a:xfrm>
            <a:off x="566738" y="3328988"/>
            <a:ext cx="2562300" cy="1438200"/>
            <a:chOff x="566738" y="3328988"/>
            <a:chExt cx="2562300" cy="1438200"/>
          </a:xfrm>
        </p:grpSpPr>
        <p:pic>
          <p:nvPicPr>
            <p:cNvPr id="155" name="Google Shape;155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738" y="3328988"/>
              <a:ext cx="2562300" cy="14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22"/>
            <p:cNvSpPr txBox="1"/>
            <p:nvPr/>
          </p:nvSpPr>
          <p:spPr>
            <a:xfrm>
              <a:off x="714375" y="3429000"/>
              <a:ext cx="2267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04. ESTIMATE IMPACT</a:t>
              </a:r>
              <a:endParaRPr b="1" sz="10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Translate clinic DNA volumes into concrete estimates of financial loss and wasted healthcare capacity.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7" name="Google Shape;157;p22"/>
          <p:cNvGrpSpPr/>
          <p:nvPr/>
        </p:nvGrpSpPr>
        <p:grpSpPr>
          <a:xfrm>
            <a:off x="3290888" y="3328988"/>
            <a:ext cx="2562300" cy="1438200"/>
            <a:chOff x="3290888" y="3328988"/>
            <a:chExt cx="2562300" cy="1438200"/>
          </a:xfrm>
        </p:grpSpPr>
        <p:pic>
          <p:nvPicPr>
            <p:cNvPr id="158" name="Google Shape;158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290888" y="3328988"/>
              <a:ext cx="2562300" cy="14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22"/>
            <p:cNvSpPr txBox="1"/>
            <p:nvPr/>
          </p:nvSpPr>
          <p:spPr>
            <a:xfrm>
              <a:off x="3438525" y="3429000"/>
              <a:ext cx="2267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05. TARGETED INTERVENTIONS</a:t>
              </a:r>
              <a:endParaRPr b="1" sz="10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Recommend practical changes like overbooking rules, modified reminder strategies, or high-risk patient outreach.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0" name="Google Shape;160;p22"/>
          <p:cNvGrpSpPr/>
          <p:nvPr/>
        </p:nvGrpSpPr>
        <p:grpSpPr>
          <a:xfrm>
            <a:off x="6015038" y="3328988"/>
            <a:ext cx="2562300" cy="1438200"/>
            <a:chOff x="6015038" y="3328988"/>
            <a:chExt cx="2562300" cy="1438200"/>
          </a:xfrm>
        </p:grpSpPr>
        <p:pic>
          <p:nvPicPr>
            <p:cNvPr id="161" name="Google Shape;161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15038" y="3328988"/>
              <a:ext cx="2562300" cy="14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22"/>
            <p:cNvSpPr txBox="1"/>
            <p:nvPr/>
          </p:nvSpPr>
          <p:spPr>
            <a:xfrm>
              <a:off x="6162675" y="3429000"/>
              <a:ext cx="2267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06. PRESENT FINDINGS</a:t>
              </a:r>
              <a:endParaRPr b="1" sz="100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Deliver insights clearly through reports or structured dashboards suitable for senior Trust leadership.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3"/>
          <p:cNvPicPr preferRelativeResize="0"/>
          <p:nvPr/>
        </p:nvPicPr>
        <p:blipFill rotWithShape="1">
          <a:blip r:embed="rId4">
            <a:alphaModFix/>
          </a:blip>
          <a:srcRect b="0" l="3288" r="3288" t="0"/>
          <a:stretch/>
        </p:blipFill>
        <p:spPr>
          <a:xfrm>
            <a:off x="571500" y="381000"/>
            <a:ext cx="20478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 txBox="1"/>
          <p:nvPr/>
        </p:nvSpPr>
        <p:spPr>
          <a:xfrm>
            <a:off x="571500" y="809625"/>
            <a:ext cx="8001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5F3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Dataset</a:t>
            </a:r>
            <a:endParaRPr b="0" sz="1000">
              <a:solidFill>
                <a:srgbClr val="A5F3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GB" sz="2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 Dictionary</a:t>
            </a:r>
            <a:endParaRPr b="0" sz="1000">
              <a:solidFill>
                <a:srgbClr val="A5F3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571500" y="1714500"/>
            <a:ext cx="2381400" cy="295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b="1" sz="1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accompanying file, </a:t>
            </a:r>
            <a:r>
              <a:rPr b="0" lang="en-GB" sz="110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nhs_outpatient_appointments.csv</a:t>
            </a:r>
            <a:r>
              <a:rPr b="0" lang="en-GB" sz="11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contains 2,500 simulated outpatient appointment records spanning one year.</a:t>
            </a:r>
            <a:endParaRPr b="0" sz="11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2,500</a:t>
            </a:r>
            <a:endParaRPr b="0" sz="20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Records</a:t>
            </a:r>
            <a:endParaRPr b="0" sz="1000">
              <a:solidFill>
                <a:srgbClr val="A5F3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3248500" y="809625"/>
            <a:ext cx="5429400" cy="3381300"/>
          </a:xfrm>
          <a:prstGeom prst="roundRect">
            <a:avLst>
              <a:gd fmla="val 2816" name="adj"/>
            </a:avLst>
          </a:prstGeom>
          <a:solidFill>
            <a:srgbClr val="0C4552">
              <a:alpha val="90000"/>
            </a:srgbClr>
          </a:solidFill>
          <a:ln cap="flat" cmpd="sng" w="14300">
            <a:solidFill>
              <a:srgbClr val="1D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 txBox="1"/>
          <p:nvPr/>
        </p:nvSpPr>
        <p:spPr>
          <a:xfrm>
            <a:off x="3439000" y="1000125"/>
            <a:ext cx="2428800" cy="30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appointment_id</a:t>
            </a:r>
            <a:r>
              <a:rPr lang="en-GB" sz="765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68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(Text ID)</a:t>
            </a:r>
            <a:endParaRPr sz="765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Unique identifier for each record. [Example: A200191] [cite: 7]</a:t>
            </a:r>
            <a:endParaRPr sz="76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patient_id</a:t>
            </a:r>
            <a:r>
              <a:rPr lang="en-GB" sz="765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68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(Text ID)</a:t>
            </a:r>
            <a:endParaRPr sz="765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Unique identifier for each patient. [Example: P100576] [cite: 7]</a:t>
            </a:r>
            <a:endParaRPr sz="76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age &amp; gender</a:t>
            </a:r>
            <a:r>
              <a:rPr lang="en-GB" sz="765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68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(Num / Cat)</a:t>
            </a:r>
            <a:endParaRPr sz="765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Patient's age and recorded gender. [Example: 47 / Female] [cite: 7]</a:t>
            </a:r>
            <a:endParaRPr sz="76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imd_decile</a:t>
            </a:r>
            <a:r>
              <a:rPr lang="en-GB" sz="765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68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(Number 1-10)</a:t>
            </a:r>
            <a:endParaRPr sz="765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Deprivation decile for patient's area (1=most, 10=least). [cite: 7]</a:t>
            </a:r>
            <a:endParaRPr sz="76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distance_km</a:t>
            </a:r>
            <a:r>
              <a:rPr lang="en-GB" sz="765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68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(Number)</a:t>
            </a:r>
            <a:endParaRPr sz="765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Distance in km between patient's home and hospital. [cite: 7]</a:t>
            </a:r>
            <a:endParaRPr sz="76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department</a:t>
            </a:r>
            <a:r>
              <a:rPr lang="en-GB" sz="765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68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(Category)</a:t>
            </a:r>
            <a:endParaRPr sz="765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Hospital department/specialty booked. [cite: 7]</a:t>
            </a:r>
            <a:endParaRPr sz="76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appointment_type</a:t>
            </a:r>
            <a:r>
              <a:rPr lang="en-GB" sz="765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68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(Category)</a:t>
            </a:r>
            <a:endParaRPr sz="765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6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Whether appointment is New or Follow-up. [cite: 7]</a:t>
            </a:r>
            <a:endParaRPr sz="76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6058375" y="1000125"/>
            <a:ext cx="2428800" cy="30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booking_date &amp; appt_date</a:t>
            </a:r>
            <a:r>
              <a:rPr lang="en-GB" sz="833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74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(Date)</a:t>
            </a:r>
            <a:endParaRPr sz="833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3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Dates when originally booked and scheduled. [cite: 7]</a:t>
            </a:r>
            <a:endParaRPr sz="833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9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lead_time_days</a:t>
            </a:r>
            <a:r>
              <a:rPr lang="en-GB" sz="833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74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(Number)</a:t>
            </a:r>
            <a:endParaRPr sz="833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3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Days elapsed between booking and appointment dates. [cite: 7]</a:t>
            </a:r>
            <a:endParaRPr sz="833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9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day_of_week</a:t>
            </a:r>
            <a:r>
              <a:rPr lang="en-GB" sz="833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74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(Category)</a:t>
            </a:r>
            <a:endParaRPr sz="833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3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Day of the week the appointment fell on. [cite: 7]</a:t>
            </a:r>
            <a:endParaRPr sz="833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9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reminder_sent</a:t>
            </a:r>
            <a:r>
              <a:rPr lang="en-GB" sz="833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74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(Category)</a:t>
            </a:r>
            <a:endParaRPr sz="833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3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Whether an SMS reminder was sent ahead of schedule. [cite: 7]</a:t>
            </a:r>
            <a:endParaRPr sz="833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9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prior_dna_count</a:t>
            </a:r>
            <a:r>
              <a:rPr lang="en-GB" sz="833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740">
                <a:solidFill>
                  <a:srgbClr val="A5F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(Number)</a:t>
            </a:r>
            <a:endParaRPr sz="833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3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Count of patient's previous missed appointments. [cite: 7]</a:t>
            </a:r>
            <a:endParaRPr sz="833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GB" sz="925">
                <a:solidFill>
                  <a:srgbClr val="FFC2D1"/>
                </a:solidFill>
                <a:latin typeface="Inter"/>
                <a:ea typeface="Inter"/>
                <a:cs typeface="Inter"/>
                <a:sym typeface="Inter"/>
              </a:rPr>
              <a:t>appointment_status</a:t>
            </a:r>
            <a:r>
              <a:rPr lang="en-GB" sz="833">
                <a:solidFill>
                  <a:srgbClr val="E2F8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en-GB" sz="740">
                <a:solidFill>
                  <a:srgbClr val="FF8FA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(Target)</a:t>
            </a:r>
            <a:endParaRPr sz="833">
              <a:solidFill>
                <a:srgbClr val="E2F8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3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Outcome of appointment: Attended, DNA, or Cancelled. [cite: 7]</a:t>
            </a:r>
            <a:endParaRPr sz="833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418950" y="4368950"/>
            <a:ext cx="830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1800" u="sng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DATASET HERE</a:t>
            </a:r>
            <a:endParaRPr b="1" sz="1800">
              <a:solidFill>
                <a:srgbClr val="FFD7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4"/>
          <p:cNvPicPr preferRelativeResize="0"/>
          <p:nvPr/>
        </p:nvPicPr>
        <p:blipFill rotWithShape="1">
          <a:blip r:embed="rId4">
            <a:alphaModFix/>
          </a:blip>
          <a:srcRect b="0" l="3288" r="3288" t="0"/>
          <a:stretch/>
        </p:blipFill>
        <p:spPr>
          <a:xfrm>
            <a:off x="571500" y="381000"/>
            <a:ext cx="20478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 txBox="1"/>
          <p:nvPr/>
        </p:nvSpPr>
        <p:spPr>
          <a:xfrm>
            <a:off x="571500" y="809625"/>
            <a:ext cx="8001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5F3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Project Methodology</a:t>
            </a:r>
            <a:endParaRPr b="0" sz="1000">
              <a:solidFill>
                <a:srgbClr val="A5F3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600"/>
              </a:spcAft>
              <a:buNone/>
            </a:pPr>
            <a:r>
              <a:rPr b="0" lang="en-GB" sz="2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Our Analytical Approach</a:t>
            </a:r>
            <a:endParaRPr b="0" sz="1000">
              <a:solidFill>
                <a:srgbClr val="A5F3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80" name="Google Shape;180;p24"/>
          <p:cNvGrpSpPr/>
          <p:nvPr/>
        </p:nvGrpSpPr>
        <p:grpSpPr>
          <a:xfrm>
            <a:off x="571500" y="1762125"/>
            <a:ext cx="8001150" cy="3000525"/>
            <a:chOff x="571500" y="1762125"/>
            <a:chExt cx="8001150" cy="3000525"/>
          </a:xfrm>
        </p:grpSpPr>
        <p:sp>
          <p:nvSpPr>
            <p:cNvPr id="181" name="Google Shape;181;p24"/>
            <p:cNvSpPr/>
            <p:nvPr/>
          </p:nvSpPr>
          <p:spPr>
            <a:xfrm>
              <a:off x="571500" y="1762125"/>
              <a:ext cx="2571900" cy="1428900"/>
            </a:xfrm>
            <a:prstGeom prst="roundRect">
              <a:avLst>
                <a:gd fmla="val 5333" name="adj"/>
              </a:avLst>
            </a:prstGeom>
            <a:solidFill>
              <a:srgbClr val="0C4552">
                <a:alpha val="80000"/>
              </a:srgbClr>
            </a:solidFill>
            <a:ln cap="flat" cmpd="sng" w="14300">
              <a:solidFill>
                <a:srgbClr val="1D72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4"/>
            <p:cNvSpPr txBox="1"/>
            <p:nvPr/>
          </p:nvSpPr>
          <p:spPr>
            <a:xfrm>
              <a:off x="714375" y="1876425"/>
              <a:ext cx="22860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01. DATA CLEANING &amp; CHECK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Clean and check data: confirm types, look for duplicates, and verify booking/appointment date logic.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3" name="Google Shape;183;p24"/>
            <p:cNvSpPr/>
            <p:nvPr/>
          </p:nvSpPr>
          <p:spPr>
            <a:xfrm>
              <a:off x="3286125" y="1762125"/>
              <a:ext cx="2571900" cy="1428900"/>
            </a:xfrm>
            <a:prstGeom prst="roundRect">
              <a:avLst>
                <a:gd fmla="val 5333" name="adj"/>
              </a:avLst>
            </a:prstGeom>
            <a:solidFill>
              <a:srgbClr val="0C4552">
                <a:alpha val="80000"/>
              </a:srgbClr>
            </a:solidFill>
            <a:ln cap="flat" cmpd="sng" w="14300">
              <a:solidFill>
                <a:srgbClr val="1D72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4"/>
            <p:cNvSpPr txBox="1"/>
            <p:nvPr/>
          </p:nvSpPr>
          <p:spPr>
            <a:xfrm>
              <a:off x="3429000" y="1876425"/>
              <a:ext cx="22860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02. DESCRIPTIVE METRICS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Calculate overall DNA rate, then break down by department, appointment type, and weekday.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5" name="Google Shape;185;p24"/>
            <p:cNvSpPr/>
            <p:nvPr/>
          </p:nvSpPr>
          <p:spPr>
            <a:xfrm>
              <a:off x="6000750" y="1762125"/>
              <a:ext cx="2571900" cy="1428900"/>
            </a:xfrm>
            <a:prstGeom prst="roundRect">
              <a:avLst>
                <a:gd fmla="val 5333" name="adj"/>
              </a:avLst>
            </a:prstGeom>
            <a:solidFill>
              <a:srgbClr val="0C4552">
                <a:alpha val="80000"/>
              </a:srgbClr>
            </a:solidFill>
            <a:ln cap="flat" cmpd="sng" w="14300">
              <a:solidFill>
                <a:srgbClr val="1D72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4"/>
            <p:cNvSpPr txBox="1"/>
            <p:nvPr/>
          </p:nvSpPr>
          <p:spPr>
            <a:xfrm>
              <a:off x="6143625" y="1876425"/>
              <a:ext cx="22860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03. RELATIONSHIP EXPLORATION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Explore how lead time, reminders, prior DNAs, age, and deprivation impact appointment outcomes.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7" name="Google Shape;187;p24"/>
            <p:cNvSpPr/>
            <p:nvPr/>
          </p:nvSpPr>
          <p:spPr>
            <a:xfrm>
              <a:off x="571500" y="3333750"/>
              <a:ext cx="2571900" cy="1428900"/>
            </a:xfrm>
            <a:prstGeom prst="roundRect">
              <a:avLst>
                <a:gd fmla="val 5333" name="adj"/>
              </a:avLst>
            </a:prstGeom>
            <a:solidFill>
              <a:srgbClr val="0C4552">
                <a:alpha val="80000"/>
              </a:srgbClr>
            </a:solidFill>
            <a:ln cap="flat" cmpd="sng" w="14300">
              <a:solidFill>
                <a:srgbClr val="1D72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4"/>
            <p:cNvSpPr txBox="1"/>
            <p:nvPr/>
          </p:nvSpPr>
          <p:spPr>
            <a:xfrm>
              <a:off x="714375" y="3448050"/>
              <a:ext cx="22860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04. PATIENT SEGMENTATION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Group patients by risk factors (like prior DNA history and deprivation deciles) for targeted interventions.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9" name="Google Shape;189;p24"/>
            <p:cNvSpPr/>
            <p:nvPr/>
          </p:nvSpPr>
          <p:spPr>
            <a:xfrm>
              <a:off x="3286125" y="3333750"/>
              <a:ext cx="2571900" cy="1428900"/>
            </a:xfrm>
            <a:prstGeom prst="roundRect">
              <a:avLst>
                <a:gd fmla="val 5333" name="adj"/>
              </a:avLst>
            </a:prstGeom>
            <a:solidFill>
              <a:srgbClr val="0C4552">
                <a:alpha val="80000"/>
              </a:srgbClr>
            </a:solidFill>
            <a:ln cap="flat" cmpd="sng" w="14300">
              <a:solidFill>
                <a:srgbClr val="1D72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4"/>
            <p:cNvSpPr txBox="1"/>
            <p:nvPr/>
          </p:nvSpPr>
          <p:spPr>
            <a:xfrm>
              <a:off x="3429000" y="3448050"/>
              <a:ext cx="22860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05. DATA VISUALIZATION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Build 3–5 targeted visuals (e.g. DNA rate by department and reminder status) to back recommendations.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6000750" y="3333750"/>
              <a:ext cx="2571900" cy="1428900"/>
            </a:xfrm>
            <a:prstGeom prst="roundRect">
              <a:avLst>
                <a:gd fmla="val 5333" name="adj"/>
              </a:avLst>
            </a:prstGeom>
            <a:solidFill>
              <a:srgbClr val="0C4552">
                <a:alpha val="80000"/>
              </a:srgbClr>
            </a:solidFill>
            <a:ln cap="flat" cmpd="sng" w="14300">
              <a:solidFill>
                <a:srgbClr val="1D72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4"/>
            <p:cNvSpPr txBox="1"/>
            <p:nvPr/>
          </p:nvSpPr>
          <p:spPr>
            <a:xfrm>
              <a:off x="6143625" y="3448050"/>
              <a:ext cx="22860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06. EXECUTIVE REPORTING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Synthesize key insights and policy recommendations into a concise executive summary for leadership.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5"/>
          <p:cNvPicPr preferRelativeResize="0"/>
          <p:nvPr/>
        </p:nvPicPr>
        <p:blipFill rotWithShape="1">
          <a:blip r:embed="rId4">
            <a:alphaModFix/>
          </a:blip>
          <a:srcRect b="0" l="3288" r="3288" t="0"/>
          <a:stretch/>
        </p:blipFill>
        <p:spPr>
          <a:xfrm>
            <a:off x="571500" y="381000"/>
            <a:ext cx="20478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/>
        </p:nvSpPr>
        <p:spPr>
          <a:xfrm>
            <a:off x="571500" y="809625"/>
            <a:ext cx="8001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6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Project Deliverables</a:t>
            </a:r>
            <a:endParaRPr b="0" sz="26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A5F3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99" name="Google Shape;199;p25"/>
          <p:cNvGrpSpPr/>
          <p:nvPr/>
        </p:nvGrpSpPr>
        <p:grpSpPr>
          <a:xfrm>
            <a:off x="571500" y="1857375"/>
            <a:ext cx="8001150" cy="2476500"/>
            <a:chOff x="571500" y="1857375"/>
            <a:chExt cx="8001150" cy="2476500"/>
          </a:xfrm>
        </p:grpSpPr>
        <p:sp>
          <p:nvSpPr>
            <p:cNvPr id="200" name="Google Shape;200;p25"/>
            <p:cNvSpPr/>
            <p:nvPr/>
          </p:nvSpPr>
          <p:spPr>
            <a:xfrm>
              <a:off x="571500" y="1857375"/>
              <a:ext cx="2571900" cy="2476500"/>
            </a:xfrm>
            <a:prstGeom prst="roundRect">
              <a:avLst>
                <a:gd fmla="val 3076" name="adj"/>
              </a:avLst>
            </a:prstGeom>
            <a:solidFill>
              <a:srgbClr val="0C4552">
                <a:alpha val="80000"/>
              </a:srgbClr>
            </a:solidFill>
            <a:ln cap="flat" cmpd="sng" w="14300">
              <a:solidFill>
                <a:srgbClr val="1D72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5"/>
            <p:cNvSpPr txBox="1"/>
            <p:nvPr/>
          </p:nvSpPr>
          <p:spPr>
            <a:xfrm>
              <a:off x="714375" y="2000250"/>
              <a:ext cx="22860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01. EXECUTIVE SUMMARY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Headline Findings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E2F8FA"/>
                  </a:solidFill>
                  <a:latin typeface="Inter"/>
                  <a:ea typeface="Inter"/>
                  <a:cs typeface="Inter"/>
                  <a:sym typeface="Inter"/>
                </a:rPr>
                <a:t>A slide summary covering headline findings, key drivers of DNAs, and 2–4 prioritised recommendations.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2" name="Google Shape;202;p25"/>
            <p:cNvSpPr/>
            <p:nvPr/>
          </p:nvSpPr>
          <p:spPr>
            <a:xfrm>
              <a:off x="3286125" y="1857375"/>
              <a:ext cx="2571900" cy="2476500"/>
            </a:xfrm>
            <a:prstGeom prst="roundRect">
              <a:avLst>
                <a:gd fmla="val 3076" name="adj"/>
              </a:avLst>
            </a:prstGeom>
            <a:solidFill>
              <a:srgbClr val="0C4552">
                <a:alpha val="80000"/>
              </a:srgbClr>
            </a:solidFill>
            <a:ln cap="flat" cmpd="sng" w="14300">
              <a:solidFill>
                <a:srgbClr val="1D72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5"/>
            <p:cNvSpPr txBox="1"/>
            <p:nvPr/>
          </p:nvSpPr>
          <p:spPr>
            <a:xfrm>
              <a:off x="3429000" y="2000250"/>
              <a:ext cx="22860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02. CORE ANALYSIS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Supporting Data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GB" sz="1050">
                  <a:solidFill>
                    <a:srgbClr val="E2F8FA"/>
                  </a:solidFill>
                  <a:latin typeface="Inter"/>
                  <a:ea typeface="Inter"/>
                  <a:cs typeface="Inter"/>
                  <a:sym typeface="Inter"/>
                </a:rPr>
                <a:t>Supporting analysis carried out in Excel (data cleaning, EDA, and formulas), with a cleaned dataset provided for building interactive visuals.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4" name="Google Shape;204;p25"/>
            <p:cNvSpPr/>
            <p:nvPr/>
          </p:nvSpPr>
          <p:spPr>
            <a:xfrm>
              <a:off x="6000750" y="1857375"/>
              <a:ext cx="2571900" cy="2476500"/>
            </a:xfrm>
            <a:prstGeom prst="roundRect">
              <a:avLst>
                <a:gd fmla="val 3076" name="adj"/>
              </a:avLst>
            </a:prstGeom>
            <a:solidFill>
              <a:srgbClr val="0C4552">
                <a:alpha val="80000"/>
              </a:srgbClr>
            </a:solidFill>
            <a:ln cap="flat" cmpd="sng" w="14300">
              <a:solidFill>
                <a:srgbClr val="1D72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5"/>
            <p:cNvSpPr txBox="1"/>
            <p:nvPr/>
          </p:nvSpPr>
          <p:spPr>
            <a:xfrm>
              <a:off x="6143625" y="2000250"/>
              <a:ext cx="22860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A5F3FC"/>
                  </a:solidFill>
                  <a:latin typeface="Inter"/>
                  <a:ea typeface="Inter"/>
                  <a:cs typeface="Inter"/>
                  <a:sym typeface="Inter"/>
                </a:rPr>
                <a:t>03. KEY EXHIBITS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Visuals &amp; Impact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E2F8FA"/>
                  </a:solidFill>
                  <a:latin typeface="Inter"/>
                  <a:ea typeface="Inter"/>
                  <a:cs typeface="Inter"/>
                  <a:sym typeface="Inter"/>
                </a:rPr>
                <a:t>At minimum, one visual showing DNA rate by a factor of your choice, and one estimate of the financial impact of the current DNA rate.</a:t>
              </a:r>
              <a:endParaRPr b="1" sz="950">
                <a:solidFill>
                  <a:srgbClr val="A5F3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